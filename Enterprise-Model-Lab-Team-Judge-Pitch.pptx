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不是一个 Agent，是一家可以被调用的 AI 公司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60000" y="1720000"/>
            <a:ext cx="7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600">
                <a:solidFill>
                  <a:srgbClr val="F8FAFC"/>
                </a:solidFill>
                <a:latin typeface="Aptos"/>
                <a:ea typeface="Microsoft YaHei"/>
              </a:rPr>
              <a:t>5 分钟评委汇报 | Enterprise Model Lab Team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01 / Enterprise Model Lab Team</a:t>
            </a:r>
          </a:p>
        </p:txBody>
      </p:sp>
      <p:sp>
        <p:nvSpPr>
          <p:cNvPr id="30" name="Shape 30"/>
          <p:cNvSpPr/>
          <p:nvPr/>
        </p:nvSpPr>
        <p:spPr>
          <a:xfrm>
            <a:off x="760000" y="3450000"/>
            <a:ext cx="2300000" cy="1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980000" y="3630000"/>
            <a:ext cx="18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06B6D4"/>
                </a:solidFill>
                <a:latin typeface="Aptos"/>
                <a:ea typeface="Microsoft YaHei"/>
              </a:rPr>
              <a:t>31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980000" y="4120000"/>
            <a:ext cx="18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跨部门智能体</a:t>
            </a:r>
          </a:p>
        </p:txBody>
      </p:sp>
      <p:sp>
        <p:nvSpPr>
          <p:cNvPr id="40" name="Shape 40"/>
          <p:cNvSpPr/>
          <p:nvPr/>
        </p:nvSpPr>
        <p:spPr>
          <a:xfrm>
            <a:off x="3360000" y="3450000"/>
            <a:ext cx="2300000" cy="1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40" name="Text 140"/>
          <p:cNvSpPr txBox="1"/>
          <p:nvPr/>
        </p:nvSpPr>
        <p:spPr>
          <a:xfrm>
            <a:off x="3580000" y="3630000"/>
            <a:ext cx="18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10B981"/>
                </a:solidFill>
                <a:latin typeface="Aptos"/>
                <a:ea typeface="Microsoft YaHei"/>
              </a:rPr>
              <a:t>30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580000" y="4120000"/>
            <a:ext cx="18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公司级交付物</a:t>
            </a:r>
          </a:p>
        </p:txBody>
      </p:sp>
      <p:sp>
        <p:nvSpPr>
          <p:cNvPr id="50" name="Shape 50"/>
          <p:cNvSpPr/>
          <p:nvPr/>
        </p:nvSpPr>
        <p:spPr>
          <a:xfrm>
            <a:off x="5960000" y="3450000"/>
            <a:ext cx="2300000" cy="1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0" name="Text 150"/>
          <p:cNvSpPr txBox="1"/>
          <p:nvPr/>
        </p:nvSpPr>
        <p:spPr>
          <a:xfrm>
            <a:off x="6180000" y="3630000"/>
            <a:ext cx="18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F59E0B"/>
                </a:solidFill>
                <a:latin typeface="Aptos"/>
                <a:ea typeface="Microsoft YaHei"/>
              </a:rPr>
              <a:t>6/6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180000" y="4120000"/>
            <a:ext cx="18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验收清单通过</a:t>
            </a:r>
          </a:p>
        </p:txBody>
      </p:sp>
      <p:sp>
        <p:nvSpPr>
          <p:cNvPr id="60" name="Shape 60"/>
          <p:cNvSpPr/>
          <p:nvPr/>
        </p:nvSpPr>
        <p:spPr>
          <a:xfrm>
            <a:off x="8560000" y="3450000"/>
            <a:ext cx="2300000" cy="1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8780000" y="3630000"/>
            <a:ext cx="18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2563EB"/>
                </a:solidFill>
                <a:latin typeface="Aptos"/>
                <a:ea typeface="Microsoft YaHei"/>
              </a:rPr>
              <a:t>85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8780000" y="4120000"/>
            <a:ext cx="18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AI交付准备度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评委最难判断的不是文字，而是真实执行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02 / Enterprise Model Lab Team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60000" y="2400000"/>
            <a:ext cx="7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b="1">
                <a:solidFill>
                  <a:srgbClr val="FFFFFF"/>
                </a:solidFill>
                <a:latin typeface="Aptos"/>
                <a:ea typeface="Microsoft YaHei"/>
              </a:rPr>
              <a:t>普通 Agent Demo 的问题：能生成很多内容，但很难证明真的完成了交付。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00000" y="3400000"/>
            <a:ext cx="78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>
                <a:solidFill>
                  <a:srgbClr val="142033"/>
                </a:solidFill>
                <a:latin typeface="Aptos"/>
                <a:ea typeface="Microsoft YaHei"/>
              </a:rPr>
              <a:t>• 是否只是模板化方案？</a:t>
            </a:r>
          </a:p>
          <a:p>
            <a:r>
              <a:rPr lang="zh-CN" sz="2400">
                <a:solidFill>
                  <a:srgbClr val="142033"/>
                </a:solidFill>
                <a:latin typeface="Aptos"/>
                <a:ea typeface="Microsoft YaHei"/>
              </a:rPr>
              <a:t>• 是否有真实输入、过程、输出？</a:t>
            </a:r>
          </a:p>
          <a:p>
            <a:r>
              <a:rPr lang="zh-CN" sz="2400">
                <a:solidFill>
                  <a:srgbClr val="142033"/>
                </a:solidFill>
                <a:latin typeface="Aptos"/>
                <a:ea typeface="Microsoft YaHei"/>
              </a:rPr>
              <a:t>• 是否能被客户或评委验收？</a:t>
            </a:r>
          </a:p>
          <a:p>
            <a:r>
              <a:rPr lang="zh-CN" sz="2400">
                <a:solidFill>
                  <a:srgbClr val="142033"/>
                </a:solidFill>
                <a:latin typeface="Aptos"/>
                <a:ea typeface="Microsoft YaHei"/>
              </a:rPr>
              <a:t>• 是否会夸大训练、微调、上线能力？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000000" y="5400000"/>
            <a:ext cx="8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b="1">
                <a:solidFill>
                  <a:srgbClr val="06B6D4"/>
                </a:solidFill>
                <a:latin typeface="Aptos"/>
                <a:ea typeface="Microsoft YaHei"/>
              </a:rPr>
              <a:t>我们的解法：用证据链约束多智能体协作。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网页不是装饰，是评委证据驾驶舱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03 / Enterprise Model Lab Team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0000" y="2300000"/>
            <a:ext cx="6200000" cy="2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350">
                <a:solidFill>
                  <a:srgbClr val="142033"/>
                </a:solidFill>
                <a:latin typeface="Aptos"/>
                <a:ea typeface="Microsoft YaHei"/>
              </a:rPr>
              <a:t>• 启动 31-Agent 完整公司团队</a:t>
            </a:r>
          </a:p>
          <a:p>
            <a:r>
              <a:rPr lang="zh-CN" sz="2350">
                <a:solidFill>
                  <a:srgbClr val="142033"/>
                </a:solidFill>
                <a:latin typeface="Aptos"/>
                <a:ea typeface="Microsoft YaHei"/>
              </a:rPr>
              <a:t>• 点击部门查看每个智能体的输入、决策、输出和交接</a:t>
            </a:r>
          </a:p>
          <a:p>
            <a:r>
              <a:rPr lang="zh-CN" sz="2350">
                <a:solidFill>
                  <a:srgbClr val="142033"/>
                </a:solidFill>
                <a:latin typeface="Aptos"/>
                <a:ea typeface="Microsoft YaHei"/>
              </a:rPr>
              <a:t>• 上传 CSV 后实时改变数据画像与模型路线</a:t>
            </a:r>
          </a:p>
          <a:p>
            <a:r>
              <a:rPr lang="zh-CN" sz="2350">
                <a:solidFill>
                  <a:srgbClr val="142033"/>
                </a:solidFill>
                <a:latin typeface="Aptos"/>
                <a:ea typeface="Microsoft YaHei"/>
              </a:rPr>
              <a:t>• 下载总报告、交付包和证据 JSON</a:t>
            </a:r>
          </a:p>
        </p:txBody>
      </p:sp>
      <p:sp>
        <p:nvSpPr>
          <p:cNvPr id="60" name="Shape 60"/>
          <p:cNvSpPr/>
          <p:nvPr/>
        </p:nvSpPr>
        <p:spPr>
          <a:xfrm>
            <a:off x="7800000" y="2300000"/>
            <a:ext cx="31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8120000" y="2580000"/>
            <a:ext cx="25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00" b="1">
                <a:solidFill>
                  <a:srgbClr val="2563EB"/>
                </a:solidFill>
                <a:latin typeface="Aptos"/>
                <a:ea typeface="Microsoft YaHei"/>
              </a:rPr>
              <a:t>Judge Proof Cockpit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120000" y="3220000"/>
            <a:ext cx="25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 b="1">
                <a:solidFill>
                  <a:srgbClr val="142033"/>
                </a:solidFill>
                <a:latin typeface="Aptos"/>
                <a:ea typeface="Microsoft YaHei"/>
              </a:rPr>
              <a:t>AI Delivery Readiness</a:t>
            </a:r>
          </a:p>
          <a:p>
            <a:r>
              <a:rPr lang="zh-CN" sz="2100" b="1">
                <a:solidFill>
                  <a:srgbClr val="142033"/>
                </a:solidFill>
                <a:latin typeface="Aptos"/>
                <a:ea typeface="Microsoft YaHei"/>
              </a:rPr>
              <a:t>Browser + Python</a:t>
            </a:r>
          </a:p>
          <a:p>
            <a:r>
              <a:rPr lang="zh-CN" sz="2100" b="1">
                <a:solidFill>
                  <a:srgbClr val="142033"/>
                </a:solidFill>
                <a:latin typeface="Aptos"/>
                <a:ea typeface="Microsoft YaHei"/>
              </a:rPr>
              <a:t>Acceptance Evidence</a:t>
            </a:r>
          </a:p>
          <a:p>
            <a:r>
              <a:rPr lang="zh-CN" sz="2100" b="1">
                <a:solidFill>
                  <a:srgbClr val="142033"/>
                </a:solidFill>
                <a:latin typeface="Aptos"/>
                <a:ea typeface="Microsoft YaHei"/>
              </a:rPr>
              <a:t>No Overclaiming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820000" y="555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500" b="1">
                <a:solidFill>
                  <a:srgbClr val="10B981"/>
                </a:solidFill>
                <a:latin typeface="Aptos"/>
                <a:ea typeface="Microsoft YaHei"/>
              </a:rPr>
              <a:t>演示重点：不要只看页面，要点开部门和交付物，让评委看到多智能体的“工作链”。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一次真实调用，产出可复查的交付包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04 / Enterprise Model Lab Team</a:t>
            </a:r>
          </a:p>
        </p:txBody>
      </p:sp>
      <p:sp>
        <p:nvSpPr>
          <p:cNvPr id="30" name="Shape 30"/>
          <p:cNvSpPr/>
          <p:nvPr/>
        </p:nvSpPr>
        <p:spPr>
          <a:xfrm>
            <a:off x="760000" y="2320000"/>
            <a:ext cx="210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980000" y="2500000"/>
            <a:ext cx="16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2563EB"/>
                </a:solidFill>
                <a:latin typeface="Aptos"/>
                <a:ea typeface="Microsoft YaHei"/>
              </a:rPr>
              <a:t>132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980000" y="2990000"/>
            <a:ext cx="1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文件被扫描</a:t>
            </a:r>
          </a:p>
        </p:txBody>
      </p:sp>
      <p:sp>
        <p:nvSpPr>
          <p:cNvPr id="40" name="Shape 40"/>
          <p:cNvSpPr/>
          <p:nvPr/>
        </p:nvSpPr>
        <p:spPr>
          <a:xfrm>
            <a:off x="3120000" y="2320000"/>
            <a:ext cx="210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40" name="Text 140"/>
          <p:cNvSpPr txBox="1"/>
          <p:nvPr/>
        </p:nvSpPr>
        <p:spPr>
          <a:xfrm>
            <a:off x="3340000" y="2500000"/>
            <a:ext cx="16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06B6D4"/>
                </a:solidFill>
                <a:latin typeface="Aptos"/>
                <a:ea typeface="Microsoft YaHei"/>
              </a:rPr>
              <a:t>13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340000" y="2990000"/>
            <a:ext cx="1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代码文件</a:t>
            </a:r>
          </a:p>
        </p:txBody>
      </p:sp>
      <p:sp>
        <p:nvSpPr>
          <p:cNvPr id="50" name="Shape 50"/>
          <p:cNvSpPr/>
          <p:nvPr/>
        </p:nvSpPr>
        <p:spPr>
          <a:xfrm>
            <a:off x="5480000" y="2320000"/>
            <a:ext cx="210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0" name="Text 150"/>
          <p:cNvSpPr txBox="1"/>
          <p:nvPr/>
        </p:nvSpPr>
        <p:spPr>
          <a:xfrm>
            <a:off x="5700000" y="2500000"/>
            <a:ext cx="16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10B981"/>
                </a:solidFill>
                <a:latin typeface="Aptos"/>
                <a:ea typeface="Microsoft YaHei"/>
              </a:rPr>
              <a:t>117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5700000" y="2990000"/>
            <a:ext cx="1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文档文件</a:t>
            </a:r>
          </a:p>
        </p:txBody>
      </p:sp>
      <p:sp>
        <p:nvSpPr>
          <p:cNvPr id="60" name="Shape 60"/>
          <p:cNvSpPr/>
          <p:nvPr/>
        </p:nvSpPr>
        <p:spPr>
          <a:xfrm>
            <a:off x="7840000" y="2320000"/>
            <a:ext cx="210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8060000" y="2500000"/>
            <a:ext cx="166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600" b="1">
                <a:solidFill>
                  <a:srgbClr val="F59E0B"/>
                </a:solidFill>
                <a:latin typeface="Aptos"/>
                <a:ea typeface="Microsoft YaHei"/>
              </a:rPr>
              <a:t>30/30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8060000" y="2990000"/>
            <a:ext cx="1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5A667A"/>
                </a:solidFill>
                <a:latin typeface="Aptos"/>
                <a:ea typeface="Microsoft YaHei"/>
              </a:rPr>
              <a:t>交付物存在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950000" y="4050000"/>
            <a:ext cx="88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生成 run-report、asset-inventory、readiness-score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生成 work-orders、execution-log、execution-status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生成 capability-matrix、acceptance-checklist、next-execution-plan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生成 client-project 并运行 smoke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不是“写方案”，而是“可验收”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05 / Enterprise Model Lab Team</a:t>
            </a:r>
          </a:p>
        </p:txBody>
      </p:sp>
      <p:sp>
        <p:nvSpPr>
          <p:cNvPr id="30" name="Shape 30"/>
          <p:cNvSpPr/>
          <p:nvPr/>
        </p:nvSpPr>
        <p:spPr>
          <a:xfrm>
            <a:off x="820000" y="2350000"/>
            <a:ext cx="960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1120000" y="2650000"/>
            <a:ext cx="4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300" b="1">
                <a:solidFill>
                  <a:srgbClr val="10B981"/>
                </a:solidFill>
                <a:latin typeface="Aptos"/>
                <a:ea typeface="Microsoft YaHei"/>
              </a:rPr>
              <a:t>验收清单 6/6 通过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120000" y="3350000"/>
            <a:ext cx="78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Web demo 可直接打开，无登录、无 API key、无 GPU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真实项目分析包含资产、数据、模型路线和风险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工作单有 owner、priority、artifact、acceptance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客户项目 smoke test 返回 0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120000" y="5550000"/>
            <a:ext cx="90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50" b="1">
                <a:solidFill>
                  <a:srgbClr val="2563EB"/>
                </a:solidFill>
                <a:latin typeface="Aptos"/>
                <a:ea typeface="Microsoft YaHei"/>
              </a:rPr>
              <a:t>评委可以按文件逐项验收，而不是听我们口头承诺。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GPO 案例证明：它不是写死的文本模板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06 / Enterprise Model Lab Team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20000" y="2300000"/>
            <a:ext cx="80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b="1">
                <a:solidFill>
                  <a:srgbClr val="FFFFFF"/>
                </a:solidFill>
                <a:latin typeface="Aptos"/>
                <a:ea typeface="Microsoft YaHei"/>
              </a:rPr>
              <a:t>GPO 是计算机视觉分割项目，不是 LLM 文本任务。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40000" y="3200000"/>
            <a:ext cx="85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识别 SAM + DINOv2 / feature matching + RL/DQN prompt optimizer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发现 158 个代码文件、55 个文档/日志、80 个模型资产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解析 5019 条训练 episode 记录</a:t>
            </a:r>
          </a:p>
          <a:p>
            <a:r>
              <a:rPr lang="zh-CN" sz="2250">
                <a:solidFill>
                  <a:srgbClr val="142033"/>
                </a:solidFill>
                <a:latin typeface="Aptos"/>
                <a:ea typeface="Microsoft YaHei"/>
              </a:rPr>
              <a:t>• 给出产品化路线：视觉分割 prompt optimization demo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040000" y="5420000"/>
            <a:ext cx="84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600" b="1">
                <a:solidFill>
                  <a:srgbClr val="06B6D4"/>
                </a:solidFill>
                <a:latin typeface="Aptos"/>
                <a:ea typeface="Microsoft YaHei"/>
              </a:rPr>
              <a:t>亮点：同一套公司级流程，可以迁移到视觉模型、Agent 产品和企业 AI 项目。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核心创新：多智能体从聊天走向公司级交付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07 / Enterprise Model Lab Team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00000" y="2250000"/>
            <a:ext cx="9500000" cy="2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300">
                <a:solidFill>
                  <a:srgbClr val="142033"/>
                </a:solidFill>
                <a:latin typeface="Aptos"/>
                <a:ea typeface="Microsoft YaHei"/>
              </a:rPr>
              <a:t>• 组织级智能体：战略、产品、技术、AI、MLOps、法务、运营、媒体、销售完整覆盖</a:t>
            </a:r>
          </a:p>
          <a:p>
            <a:r>
              <a:rPr lang="zh-CN" sz="2300">
                <a:solidFill>
                  <a:srgbClr val="142033"/>
                </a:solidFill>
                <a:latin typeface="Aptos"/>
                <a:ea typeface="Microsoft YaHei"/>
              </a:rPr>
              <a:t>• 真实交付闭环：输入目标 -&gt; 调度部门 -&gt; 生成交付物 -&gt; 执行工作单 -&gt; 输出验收证据</a:t>
            </a:r>
          </a:p>
          <a:p>
            <a:r>
              <a:rPr lang="zh-CN" sz="2300">
                <a:solidFill>
                  <a:srgbClr val="142033"/>
                </a:solidFill>
                <a:latin typeface="Aptos"/>
                <a:ea typeface="Microsoft YaHei"/>
              </a:rPr>
              <a:t>• 可信边界：明确区分已执行、可执行、不可声称</a:t>
            </a:r>
          </a:p>
          <a:p>
            <a:r>
              <a:rPr lang="zh-CN" sz="2300">
                <a:solidFill>
                  <a:srgbClr val="142033"/>
                </a:solidFill>
                <a:latin typeface="Aptos"/>
                <a:ea typeface="Microsoft YaHei"/>
              </a:rPr>
              <a:t>• 双路径体验：网页给评委试用，company_os.py 给项目做深度执行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900000" y="560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b="1">
                <a:solidFill>
                  <a:srgbClr val="10B981"/>
                </a:solidFill>
                <a:latin typeface="Aptos"/>
                <a:ea typeface="Microsoft YaHei"/>
              </a:rPr>
              <a:t>一句话：我们把 Skill 做成了一家会留下证据的 AI 公司。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0000" y="720000"/>
            <a:ext cx="2400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60000" y="9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5200" b="1">
                <a:solidFill>
                  <a:srgbClr val="FFFFFF"/>
                </a:solidFill>
                <a:latin typeface="Aptos"/>
                <a:ea typeface="Microsoft YaHei"/>
              </a:rPr>
              <a:t>5 分钟演示路线：让评委亲眼看到证据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60000" y="59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F8FAFC"/>
                </a:solidFill>
                <a:latin typeface="Aptos"/>
                <a:ea typeface="Microsoft YaHei"/>
              </a:rPr>
              <a:t>08 / Enterprise Model Lab Team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80000" y="2200000"/>
            <a:ext cx="96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1. 首页：强调 Judge Proof Cockpit 和 AI交付准备度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2. 点击启动：展示 31-Agent 调度与实时日志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3. 点部门/Agent：证明不是堆名字，而是有输入、决策、输出、交接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4. 下载报告：展示 85/100、6/6、executed、smoke test passed</a:t>
            </a:r>
          </a:p>
          <a:p>
            <a:r>
              <a:rPr lang="zh-CN" sz="2200">
                <a:solidFill>
                  <a:srgbClr val="142033"/>
                </a:solidFill>
                <a:latin typeface="Aptos"/>
                <a:ea typeface="Microsoft YaHei"/>
              </a:rPr>
              <a:t>• 5. 打开 GPO：证明框架能迁移到真实视觉项目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980000" y="5600000"/>
            <a:ext cx="90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850" b="1">
                <a:solidFill>
                  <a:srgbClr val="2563EB"/>
                </a:solidFill>
                <a:latin typeface="Aptos"/>
                <a:ea typeface="Microsoft YaHei"/>
              </a:rPr>
              <a:t>收尾口号：我们不是做了一个 Agent，我们做了一家可以被调用的 AI 公司。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erpriseModelLab">
  <a:themeElements>
    <a:clrScheme name="Custom">
      <a:dk1>
        <a:srgbClr val="101827"/>
      </a:dk1>
      <a:lt1>
        <a:srgbClr val="FFFFFF"/>
      </a:lt1>
      <a:dk2>
        <a:srgbClr val="142033"/>
      </a:dk2>
      <a:lt2>
        <a:srgbClr val="F8FAFC"/>
      </a:lt2>
      <a:accent1>
        <a:srgbClr val="2563EB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5A667A"/>
      </a:accent6>
      <a:hlink>
        <a:srgbClr val="2563EB"/>
      </a:hlink>
      <a:folHlink>
        <a:srgbClr val="5A667A"/>
      </a:folHlink>
    </a:clrScheme>
    <a:fontScheme name="Aptos">
      <a:majorFont>
        <a:latin typeface="Aptos"/>
        <a:ea typeface="Microsoft YaHei"/>
      </a:majorFont>
      <a:minorFont>
        <a:latin typeface="Aptos"/>
        <a:ea typeface="Microsoft YaHei"/>
      </a:minorFont>
    </a:fontScheme>
    <a:fmtScheme name="Clean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Enterprise Model Lab Team Judge Pitch</dc:title>
  <dc:creator>Codex</dc:creator>
</cp:coreProperties>
</file>